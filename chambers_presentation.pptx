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5143500" cx="9144000"/>
  <p:notesSz cx="6858000" cy="9144000"/>
  <p:embeddedFontLst>
    <p:embeddedFont>
      <p:font typeface="Arial Black"/>
      <p:regular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orient="horz" pos="191">
          <p15:clr>
            <a:srgbClr val="A4A3A4"/>
          </p15:clr>
        </p15:guide>
        <p15:guide id="3" orient="horz" pos="854">
          <p15:clr>
            <a:srgbClr val="A4A3A4"/>
          </p15:clr>
        </p15:guide>
        <p15:guide id="4" orient="horz" pos="821">
          <p15:clr>
            <a:srgbClr val="A4A3A4"/>
          </p15:clr>
        </p15:guide>
        <p15:guide id="5" orient="horz" pos="3049">
          <p15:clr>
            <a:srgbClr val="A4A3A4"/>
          </p15:clr>
        </p15:guide>
        <p15:guide id="6" orient="horz" pos="3151">
          <p15:clr>
            <a:srgbClr val="A4A3A4"/>
          </p15:clr>
        </p15:guide>
        <p15:guide id="7" pos="2880">
          <p15:clr>
            <a:srgbClr val="A4A3A4"/>
          </p15:clr>
        </p15:guide>
        <p15:guide id="8" pos="476">
          <p15:clr>
            <a:srgbClr val="A4A3A4"/>
          </p15:clr>
        </p15:guide>
        <p15:guide id="9" pos="5193">
          <p15:clr>
            <a:srgbClr val="A4A3A4"/>
          </p15:clr>
        </p15:guide>
        <p15:guide id="10" pos="5465">
          <p15:clr>
            <a:srgbClr val="A4A3A4"/>
          </p15:clr>
        </p15:guide>
      </p15:sldGuideLst>
    </p:ext>
    <p:ext uri="GoogleSlidesCustomDataVersion2">
      <go:slidesCustomData xmlns:go="http://customooxmlschemas.google.com/" r:id="rId49" roundtripDataSignature="AMtx7mi1Pjc4pmHco5VrKeS3EQJSdxs5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191" orient="horz"/>
        <p:guide pos="854" orient="horz"/>
        <p:guide pos="821" orient="horz"/>
        <p:guide pos="3049" orient="horz"/>
        <p:guide pos="3151" orient="horz"/>
        <p:guide pos="2880"/>
        <p:guide pos="476"/>
        <p:guide pos="5193"/>
        <p:guide pos="546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ArialBlack-regular.fntdata"/><Relationship Id="rId47" Type="http://schemas.openxmlformats.org/officeDocument/2006/relationships/slide" Target="slides/slide42.xml"/><Relationship Id="rId4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" name="Google Shape;6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88639d4d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g3f88639d4d7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88639d4d7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g3f88639d4d7_0_2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88639d4d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3f88639d4d7_0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88639d4d7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g3f88639d4d7_0_1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88639d4d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g3f88639d4d7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88639d4d7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g3f88639d4d7_0_2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88639d4d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g3f88639d4d7_0_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88639d4d7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g3f88639d4d7_0_1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88639d4d7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g3f88639d4d7_0_1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88639d4d7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g3f88639d4d7_0_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88639d4d7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g3f88639d4d7_0_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88639d4d7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3f88639d4d7_0_2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8a50f19d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g3f8a50f19dc_0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88639d4d7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g3f88639d4d7_0_1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88639d4d7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g3f88639d4d7_0_2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88639d4d7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g3f88639d4d7_0_2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88639d4d7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g3f88639d4d7_0_1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88639d4d7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g3f88639d4d7_0_2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8a50f19d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g3f8a50f19dc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88639d4d7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g3f88639d4d7_0_2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88639d4d7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g3f88639d4d7_0_2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8a50f19d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g3f8a50f19dc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8a50f19d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g3f8a50f19dc_0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88639d4d7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g3f88639d4d7_0_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88639d4d7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g3f88639d4d7_0_2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88639d4d7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g3f88639d4d7_0_2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88639d4d7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g3f88639d4d7_0_2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8a36c4579_498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g3f8a36c4579_498_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88639d4d7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g3f88639d4d7_0_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f8a50f19d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5" name="Google Shape;325;g3f8a50f19dc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f88639d4d7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" name="Google Shape;333;g3f88639d4d7_0_1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f88639d4d7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g3f88639d4d7_0_1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f88639d4d7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g3f88639d4d7_0_1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f88639d4d7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g3f88639d4d7_0_1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f8a50f19dc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0" name="Google Shape;370;g3f8a50f19dc_0_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f8a50f19dc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7" name="Google Shape;377;g3f8a50f19dc_0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f8a50f19dc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8" name="Google Shape;398;g3f8a50f19dc_0_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f88639d4d7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0" name="Google Shape;410;g3f88639d4d7_0_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f8a36c4579_49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8" name="Google Shape;418;g3f8a36c4579_498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f8a36c4579_498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7" name="Google Shape;437;g3f8a36c4579_498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sous-titre" showMasterSp="0">
  <p:cSld name="Titre et sous-titr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0"/>
          <p:cNvSpPr txBox="1"/>
          <p:nvPr>
            <p:ph type="title"/>
          </p:nvPr>
        </p:nvSpPr>
        <p:spPr>
          <a:xfrm>
            <a:off x="0" y="0"/>
            <a:ext cx="180000" cy="1800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 Black"/>
              <a:buNone/>
              <a:defRPr sz="1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2" type="sldNum"/>
          </p:nvPr>
        </p:nvSpPr>
        <p:spPr>
          <a:xfrm>
            <a:off x="743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2" name="Google Shape;22;p10"/>
          <p:cNvSpPr txBox="1"/>
          <p:nvPr>
            <p:ph idx="1" type="body"/>
          </p:nvPr>
        </p:nvSpPr>
        <p:spPr>
          <a:xfrm>
            <a:off x="360000" y="2346046"/>
            <a:ext cx="8424000" cy="20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50"/>
              <a:buNone/>
              <a:defRPr b="1" sz="3250" cap="none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  <a:defRPr sz="1850"/>
            </a:lvl2pPr>
            <a:lvl3pPr indent="-3429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3" name="Google Shape;23;p10"/>
          <p:cNvCxnSpPr/>
          <p:nvPr/>
        </p:nvCxnSpPr>
        <p:spPr>
          <a:xfrm>
            <a:off x="360000" y="4784400"/>
            <a:ext cx="8424000" cy="0"/>
          </a:xfrm>
          <a:prstGeom prst="straightConnector1">
            <a:avLst/>
          </a:prstGeom>
          <a:noFill/>
          <a:ln cap="flat" cmpd="sng" w="10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4" name="Google Shape;24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0000" y="151200"/>
            <a:ext cx="1798144" cy="162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6126" y="359099"/>
            <a:ext cx="2337874" cy="1204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>
  <p:cSld name="Titre et contenu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4"/>
          <p:cNvSpPr txBox="1"/>
          <p:nvPr>
            <p:ph type="title"/>
          </p:nvPr>
        </p:nvSpPr>
        <p:spPr>
          <a:xfrm>
            <a:off x="359999" y="900000"/>
            <a:ext cx="8424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0" name="Google Shape;30;p14"/>
          <p:cNvSpPr txBox="1"/>
          <p:nvPr>
            <p:ph idx="1" type="body"/>
          </p:nvPr>
        </p:nvSpPr>
        <p:spPr>
          <a:xfrm>
            <a:off x="359998" y="1836000"/>
            <a:ext cx="8424000" cy="25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/>
            </a:lvl1pPr>
            <a:lvl2pPr indent="-28892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50"/>
              <a:buChar char="•"/>
              <a:defRPr/>
            </a:lvl2pPr>
            <a:lvl3pPr indent="-28257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50"/>
              <a:buChar char="•"/>
              <a:defRPr/>
            </a:lvl3pPr>
            <a:lvl4pPr indent="-276225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  <a:defRPr/>
            </a:lvl4pPr>
            <a:lvl5pPr indent="-2730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2" type="body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6225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AutoNum type="arabicPeriod"/>
              <a:defRPr b="1" sz="750"/>
            </a:lvl1pPr>
            <a:lvl2pPr indent="-276225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AutoNum type="alphaLcPeriod"/>
              <a:defRPr sz="750"/>
            </a:lvl2pPr>
            <a:lvl3pPr indent="-3429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3" type="body"/>
          </p:nvPr>
        </p:nvSpPr>
        <p:spPr>
          <a:xfrm>
            <a:off x="359384" y="1440000"/>
            <a:ext cx="8424614" cy="2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500"/>
              <a:buFont typeface="Arial"/>
              <a:buNone/>
              <a:defRPr b="1" sz="1500">
                <a:solidFill>
                  <a:srgbClr val="7F7F7F"/>
                </a:solidFill>
              </a:defRPr>
            </a:lvl1pPr>
            <a:lvl2pPr indent="-288925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AutoNum type="alphaLcPeriod"/>
              <a:defRPr/>
            </a:lvl2pPr>
            <a:lvl3pPr indent="-3429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maire">
  <p:cSld name="Sommair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359999" y="900000"/>
            <a:ext cx="8424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1"/>
          <p:cNvSpPr txBox="1"/>
          <p:nvPr>
            <p:ph idx="12" type="sldNum"/>
          </p:nvPr>
        </p:nvSpPr>
        <p:spPr>
          <a:xfrm>
            <a:off x="7433999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7" name="Google Shape;37;p11"/>
          <p:cNvSpPr txBox="1"/>
          <p:nvPr>
            <p:ph idx="1" type="body"/>
          </p:nvPr>
        </p:nvSpPr>
        <p:spPr>
          <a:xfrm>
            <a:off x="359998" y="1891968"/>
            <a:ext cx="2520000" cy="25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5275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AutoNum type="arabicPeriod"/>
              <a:defRPr b="1"/>
            </a:lvl1pPr>
            <a:lvl2pPr indent="-288925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AutoNum type="alphaLcPeriod"/>
              <a:defRPr/>
            </a:lvl2pPr>
            <a:lvl3pPr indent="-3429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2" type="body"/>
          </p:nvPr>
        </p:nvSpPr>
        <p:spPr>
          <a:xfrm>
            <a:off x="3312000" y="1893600"/>
            <a:ext cx="2520000" cy="25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5275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AutoNum type="arabicPeriod"/>
              <a:defRPr b="1"/>
            </a:lvl1pPr>
            <a:lvl2pPr indent="-288925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AutoNum type="alphaLcPeriod"/>
              <a:defRPr/>
            </a:lvl2pPr>
            <a:lvl3pPr indent="-3429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3" type="body"/>
          </p:nvPr>
        </p:nvSpPr>
        <p:spPr>
          <a:xfrm>
            <a:off x="6263999" y="1893600"/>
            <a:ext cx="2520000" cy="25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5275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AutoNum type="arabicPeriod"/>
              <a:defRPr b="1"/>
            </a:lvl1pPr>
            <a:lvl2pPr indent="-288925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AutoNum type="alphaLcPeriod"/>
              <a:defRPr/>
            </a:lvl2pPr>
            <a:lvl3pPr indent="-3429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itre">
  <p:cSld name="Chapitre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/>
          <p:nvPr/>
        </p:nvSpPr>
        <p:spPr>
          <a:xfrm>
            <a:off x="-1" y="738000"/>
            <a:ext cx="9144000" cy="44055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2"/>
          <p:cNvSpPr txBox="1"/>
          <p:nvPr>
            <p:ph type="title"/>
          </p:nvPr>
        </p:nvSpPr>
        <p:spPr>
          <a:xfrm>
            <a:off x="359999" y="738000"/>
            <a:ext cx="8424000" cy="4046400"/>
          </a:xfrm>
          <a:prstGeom prst="rect">
            <a:avLst/>
          </a:prstGeom>
          <a:noFill/>
          <a:ln cap="flat" cmpd="sng" w="10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50"/>
              <a:buFont typeface="Arial"/>
              <a:buAutoNum type="arabicPeriod"/>
              <a:defRPr sz="32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7434000" y="478305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s 3 colonnes">
  <p:cSld name="Titre et textes 3 colonne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359999" y="900000"/>
            <a:ext cx="8424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7433999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49" name="Google Shape;49;p13"/>
          <p:cNvSpPr txBox="1"/>
          <p:nvPr>
            <p:ph idx="1" type="body"/>
          </p:nvPr>
        </p:nvSpPr>
        <p:spPr>
          <a:xfrm>
            <a:off x="3312000" y="180000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6225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AutoNum type="arabicPeriod"/>
              <a:defRPr b="1" sz="750"/>
            </a:lvl1pPr>
            <a:lvl2pPr indent="-276225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AutoNum type="alphaLcPeriod"/>
              <a:defRPr sz="750"/>
            </a:lvl2pPr>
            <a:lvl3pPr indent="-3429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2" type="body"/>
          </p:nvPr>
        </p:nvSpPr>
        <p:spPr>
          <a:xfrm>
            <a:off x="359999" y="1836000"/>
            <a:ext cx="2520000" cy="25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/>
            </a:lvl1pPr>
            <a:lvl2pPr indent="-28892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50"/>
              <a:buChar char="•"/>
              <a:defRPr/>
            </a:lvl2pPr>
            <a:lvl3pPr indent="-28257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50"/>
              <a:buChar char="•"/>
              <a:defRPr/>
            </a:lvl3pPr>
            <a:lvl4pPr indent="-276225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  <a:defRPr/>
            </a:lvl4pPr>
            <a:lvl5pPr indent="-2730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3" type="body"/>
          </p:nvPr>
        </p:nvSpPr>
        <p:spPr>
          <a:xfrm>
            <a:off x="3312000" y="1836000"/>
            <a:ext cx="2520000" cy="25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/>
            </a:lvl1pPr>
            <a:lvl2pPr indent="-28892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50"/>
              <a:buChar char="•"/>
              <a:defRPr/>
            </a:lvl2pPr>
            <a:lvl3pPr indent="-28257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50"/>
              <a:buChar char="•"/>
              <a:defRPr/>
            </a:lvl3pPr>
            <a:lvl4pPr indent="-276225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  <a:defRPr/>
            </a:lvl4pPr>
            <a:lvl5pPr indent="-2730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4" type="body"/>
          </p:nvPr>
        </p:nvSpPr>
        <p:spPr>
          <a:xfrm>
            <a:off x="6264000" y="1836000"/>
            <a:ext cx="2520000" cy="25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/>
            </a:lvl1pPr>
            <a:lvl2pPr indent="-28892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50"/>
              <a:buChar char="•"/>
              <a:defRPr/>
            </a:lvl2pPr>
            <a:lvl3pPr indent="-28257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50"/>
              <a:buChar char="•"/>
              <a:defRPr/>
            </a:lvl3pPr>
            <a:lvl4pPr indent="-276225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  <a:defRPr/>
            </a:lvl4pPr>
            <a:lvl5pPr indent="-27305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erture" showMasterSp="0">
  <p:cSld name="Couvertur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/>
          <p:nvPr>
            <p:ph idx="10" type="dt"/>
          </p:nvPr>
        </p:nvSpPr>
        <p:spPr>
          <a:xfrm>
            <a:off x="0" y="4963500"/>
            <a:ext cx="180000" cy="1800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5"/>
          <p:cNvSpPr txBox="1"/>
          <p:nvPr>
            <p:ph idx="11" type="ftr"/>
          </p:nvPr>
        </p:nvSpPr>
        <p:spPr>
          <a:xfrm>
            <a:off x="720000" y="3919897"/>
            <a:ext cx="324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5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2" type="sldNum"/>
          </p:nvPr>
        </p:nvSpPr>
        <p:spPr>
          <a:xfrm>
            <a:off x="0" y="4963500"/>
            <a:ext cx="180000" cy="1800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1" i="0" sz="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1" i="0" sz="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1" i="0" sz="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1" i="0" sz="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1" i="0" sz="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1" i="0" sz="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1" i="0" sz="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1" i="0" sz="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  <a:defRPr b="1" i="0" sz="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7" name="Google Shape;5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4000" y="151200"/>
            <a:ext cx="3221250" cy="2918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9863" y="542591"/>
            <a:ext cx="2442925" cy="1258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image" Target="../media/image1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359999" y="900000"/>
            <a:ext cx="8424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Arial Black"/>
              <a:buNone/>
              <a:defRPr b="1" i="0" sz="255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359999" y="1836000"/>
            <a:ext cx="8424000" cy="25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8925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Char char="•"/>
              <a:defRPr b="0" i="0" sz="9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257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Char char="•"/>
              <a:defRPr b="0" i="0" sz="8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6225" lvl="3" marL="18288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Char char="•"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3050" lvl="4" marL="22860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•"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7614000" y="4783500"/>
            <a:ext cx="117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26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1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cxnSp>
        <p:nvCxnSpPr>
          <p:cNvPr id="15" name="Google Shape;15;p9"/>
          <p:cNvCxnSpPr/>
          <p:nvPr/>
        </p:nvCxnSpPr>
        <p:spPr>
          <a:xfrm>
            <a:off x="360000" y="4784400"/>
            <a:ext cx="8424000" cy="0"/>
          </a:xfrm>
          <a:prstGeom prst="straightConnector1">
            <a:avLst/>
          </a:prstGeom>
          <a:noFill/>
          <a:ln cap="flat" cmpd="sng" w="10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6" name="Google Shape;16;p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06000" y="108000"/>
            <a:ext cx="576064" cy="521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54000" y="176399"/>
            <a:ext cx="754617" cy="3888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7.png"/><Relationship Id="rId4" Type="http://schemas.openxmlformats.org/officeDocument/2006/relationships/hyperlink" Target="mailto:Derrick.chambers@ineris.fr" TargetMode="External"/><Relationship Id="rId5" Type="http://schemas.openxmlformats.org/officeDocument/2006/relationships/hyperlink" Target="mailto:d-chambers@github.com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7.png"/><Relationship Id="rId4" Type="http://schemas.openxmlformats.org/officeDocument/2006/relationships/image" Target="../media/image30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Relationship Id="rId7" Type="http://schemas.openxmlformats.org/officeDocument/2006/relationships/image" Target="../media/image2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7.png"/><Relationship Id="rId4" Type="http://schemas.openxmlformats.org/officeDocument/2006/relationships/image" Target="../media/image30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Relationship Id="rId7" Type="http://schemas.openxmlformats.org/officeDocument/2006/relationships/image" Target="../media/image2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>
            <p:ph type="title"/>
          </p:nvPr>
        </p:nvSpPr>
        <p:spPr>
          <a:xfrm>
            <a:off x="0" y="0"/>
            <a:ext cx="180000" cy="180000"/>
          </a:xfrm>
          <a:prstGeom prst="rect">
            <a:avLst/>
          </a:prstGeom>
          <a:noFill/>
          <a:ln cap="flat" cmpd="sng" w="9525">
            <a:solidFill>
              <a:schemeClr val="dk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 Black"/>
              <a:buNone/>
            </a:pPr>
            <a:r>
              <a:t/>
            </a:r>
            <a:endParaRPr/>
          </a:p>
        </p:txBody>
      </p:sp>
      <p:sp>
        <p:nvSpPr>
          <p:cNvPr id="64" name="Google Shape;64;p1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sp>
        <p:nvSpPr>
          <p:cNvPr id="65" name="Google Shape;65;p1"/>
          <p:cNvSpPr txBox="1"/>
          <p:nvPr>
            <p:ph idx="12" type="sldNum"/>
          </p:nvPr>
        </p:nvSpPr>
        <p:spPr>
          <a:xfrm>
            <a:off x="7434000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6" name="Google Shape;66;p1"/>
          <p:cNvSpPr txBox="1"/>
          <p:nvPr/>
        </p:nvSpPr>
        <p:spPr>
          <a:xfrm>
            <a:off x="263408" y="130335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fr-FR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Open Source DAS Ecosystem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"/>
          <p:cNvSpPr txBox="1"/>
          <p:nvPr/>
        </p:nvSpPr>
        <p:spPr>
          <a:xfrm>
            <a:off x="311700" y="3487825"/>
            <a:ext cx="8520600" cy="10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fr-FR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Derrick Chambers</a:t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fr-FR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Galileo Fiber Optic Conference, 2026</a:t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88639d4d7_0_13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73" name="Google Shape;73;g3f88639d4d7_0_13"/>
          <p:cNvSpPr txBox="1"/>
          <p:nvPr>
            <p:ph type="title"/>
          </p:nvPr>
        </p:nvSpPr>
        <p:spPr>
          <a:xfrm>
            <a:off x="1645475" y="2211750"/>
            <a:ext cx="57042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 sz="2750"/>
              <a:t>Why Give a Talk About Tools? </a:t>
            </a:r>
            <a:endParaRPr sz="2750"/>
          </a:p>
        </p:txBody>
      </p:sp>
      <p:sp>
        <p:nvSpPr>
          <p:cNvPr id="74" name="Google Shape;74;g3f88639d4d7_0_13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88639d4d7_0_210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80" name="Google Shape;80;g3f88639d4d7_0_210"/>
          <p:cNvSpPr txBox="1"/>
          <p:nvPr>
            <p:ph type="title"/>
          </p:nvPr>
        </p:nvSpPr>
        <p:spPr>
          <a:xfrm>
            <a:off x="3323150" y="139225"/>
            <a:ext cx="57042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/>
              <a:t>Motivation</a:t>
            </a:r>
            <a:endParaRPr/>
          </a:p>
        </p:txBody>
      </p:sp>
      <p:sp>
        <p:nvSpPr>
          <p:cNvPr id="81" name="Google Shape;81;g3f88639d4d7_0_210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pic>
        <p:nvPicPr>
          <p:cNvPr id="82" name="Google Shape;82;g3f88639d4d7_0_210" title="ages_of_tools_edite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250" y="1355725"/>
            <a:ext cx="8839204" cy="2857204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3f88639d4d7_0_210"/>
          <p:cNvSpPr txBox="1"/>
          <p:nvPr/>
        </p:nvSpPr>
        <p:spPr>
          <a:xfrm>
            <a:off x="360000" y="4396000"/>
            <a:ext cx="84240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fr-FR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*Three Age System, developed to classify prehistoric artifacts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88639d4d7_0_34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89" name="Google Shape;89;g3f88639d4d7_0_34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pic>
        <p:nvPicPr>
          <p:cNvPr id="90" name="Google Shape;90;g3f88639d4d7_0_34" title="two_tracks_of_seismology.png"/>
          <p:cNvPicPr preferRelativeResize="0"/>
          <p:nvPr/>
        </p:nvPicPr>
        <p:blipFill rotWithShape="1">
          <a:blip r:embed="rId3">
            <a:alphaModFix/>
          </a:blip>
          <a:srcRect b="40458" l="0" r="0" t="0"/>
          <a:stretch/>
        </p:blipFill>
        <p:spPr>
          <a:xfrm>
            <a:off x="259950" y="974825"/>
            <a:ext cx="8624102" cy="20308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f88639d4d7_0_34"/>
          <p:cNvSpPr txBox="1"/>
          <p:nvPr>
            <p:ph type="title"/>
          </p:nvPr>
        </p:nvSpPr>
        <p:spPr>
          <a:xfrm>
            <a:off x="3323150" y="139225"/>
            <a:ext cx="57042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/>
              <a:t>Motivation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88639d4d7_0_183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97" name="Google Shape;97;g3f88639d4d7_0_183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pic>
        <p:nvPicPr>
          <p:cNvPr id="98" name="Google Shape;98;g3f88639d4d7_0_183" title="two_tracks_of_seismology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950" y="974825"/>
            <a:ext cx="8624102" cy="341087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3f88639d4d7_0_183"/>
          <p:cNvSpPr txBox="1"/>
          <p:nvPr>
            <p:ph type="title"/>
          </p:nvPr>
        </p:nvSpPr>
        <p:spPr>
          <a:xfrm>
            <a:off x="3323150" y="139225"/>
            <a:ext cx="57042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/>
              <a:t>Motivation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/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88639d4d7_0_2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05" name="Google Shape;105;g3f88639d4d7_0_2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sp>
        <p:nvSpPr>
          <p:cNvPr id="106" name="Google Shape;106;g3f88639d4d7_0_2"/>
          <p:cNvSpPr txBox="1"/>
          <p:nvPr>
            <p:ph type="title"/>
          </p:nvPr>
        </p:nvSpPr>
        <p:spPr>
          <a:xfrm>
            <a:off x="3323150" y="139225"/>
            <a:ext cx="57042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/>
              <a:t>Motivation</a:t>
            </a:r>
            <a:endParaRPr/>
          </a:p>
        </p:txBody>
      </p:sp>
      <p:pic>
        <p:nvPicPr>
          <p:cNvPr id="107" name="Google Shape;107;g3f88639d4d7_0_2" title="p1_scientist_os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9775" y="762013"/>
            <a:ext cx="6209366" cy="361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88639d4d7_0_218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13" name="Google Shape;113;g3f88639d4d7_0_218"/>
          <p:cNvSpPr txBox="1"/>
          <p:nvPr>
            <p:ph type="title"/>
          </p:nvPr>
        </p:nvSpPr>
        <p:spPr>
          <a:xfrm>
            <a:off x="1645475" y="2211750"/>
            <a:ext cx="57042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 sz="2750"/>
              <a:t>What Open DAS Tools Exist? </a:t>
            </a:r>
            <a:endParaRPr sz="2750"/>
          </a:p>
        </p:txBody>
      </p:sp>
      <p:sp>
        <p:nvSpPr>
          <p:cNvPr id="114" name="Google Shape;114;g3f88639d4d7_0_218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88639d4d7_0_44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20" name="Google Shape;120;g3f88639d4d7_0_44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sp>
        <p:nvSpPr>
          <p:cNvPr id="121" name="Google Shape;121;g3f88639d4d7_0_44"/>
          <p:cNvSpPr txBox="1"/>
          <p:nvPr>
            <p:ph type="title"/>
          </p:nvPr>
        </p:nvSpPr>
        <p:spPr>
          <a:xfrm>
            <a:off x="2667000" y="139225"/>
            <a:ext cx="6360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/>
              <a:t>The Tools </a:t>
            </a:r>
            <a:endParaRPr/>
          </a:p>
        </p:txBody>
      </p:sp>
      <p:pic>
        <p:nvPicPr>
          <p:cNvPr id="122" name="Google Shape;122;g3f88639d4d7_0_44" title="v030_funne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2575" y="553737"/>
            <a:ext cx="5420000" cy="4163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88639d4d7_0_167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28" name="Google Shape;128;g3f88639d4d7_0_167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sp>
        <p:nvSpPr>
          <p:cNvPr id="129" name="Google Shape;129;g3f88639d4d7_0_167"/>
          <p:cNvSpPr txBox="1"/>
          <p:nvPr>
            <p:ph type="title"/>
          </p:nvPr>
        </p:nvSpPr>
        <p:spPr>
          <a:xfrm>
            <a:off x="2667000" y="139225"/>
            <a:ext cx="6360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/>
              <a:t>The Tools</a:t>
            </a:r>
            <a:endParaRPr/>
          </a:p>
        </p:txBody>
      </p:sp>
      <p:pic>
        <p:nvPicPr>
          <p:cNvPr id="130" name="Google Shape;130;g3f88639d4d7_0_167" title="v020_total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748838"/>
            <a:ext cx="8839204" cy="2145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88639d4d7_0_175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36" name="Google Shape;136;g3f88639d4d7_0_175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sp>
        <p:nvSpPr>
          <p:cNvPr id="137" name="Google Shape;137;g3f88639d4d7_0_175"/>
          <p:cNvSpPr txBox="1"/>
          <p:nvPr>
            <p:ph type="title"/>
          </p:nvPr>
        </p:nvSpPr>
        <p:spPr>
          <a:xfrm>
            <a:off x="2667000" y="139225"/>
            <a:ext cx="6360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/>
              <a:t>The Tools</a:t>
            </a:r>
            <a:endParaRPr/>
          </a:p>
        </p:txBody>
      </p:sp>
      <p:pic>
        <p:nvPicPr>
          <p:cNvPr id="138" name="Google Shape;138;g3f88639d4d7_0_175" title="v120_growth_by_cohor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038" y="583401"/>
            <a:ext cx="8031926" cy="3976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88639d4d7_0_91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44" name="Google Shape;144;g3f88639d4d7_0_91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sp>
        <p:nvSpPr>
          <p:cNvPr id="145" name="Google Shape;145;g3f88639d4d7_0_91"/>
          <p:cNvSpPr txBox="1"/>
          <p:nvPr>
            <p:ph type="title"/>
          </p:nvPr>
        </p:nvSpPr>
        <p:spPr>
          <a:xfrm>
            <a:off x="2667000" y="139225"/>
            <a:ext cx="6360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/>
              <a:t>The Tools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t/>
            </a:r>
            <a:endParaRPr/>
          </a:p>
        </p:txBody>
      </p:sp>
      <p:pic>
        <p:nvPicPr>
          <p:cNvPr id="146" name="Google Shape;146;g3f88639d4d7_0_91" title="v150_language_platfor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075" y="859213"/>
            <a:ext cx="7987809" cy="361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88639d4d7_0_84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52" name="Google Shape;152;g3f88639d4d7_0_84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sp>
        <p:nvSpPr>
          <p:cNvPr id="153" name="Google Shape;153;g3f88639d4d7_0_84"/>
          <p:cNvSpPr txBox="1"/>
          <p:nvPr>
            <p:ph type="title"/>
          </p:nvPr>
        </p:nvSpPr>
        <p:spPr>
          <a:xfrm>
            <a:off x="2667000" y="139225"/>
            <a:ext cx="6360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/>
              <a:t>The Tools</a:t>
            </a:r>
            <a:endParaRPr/>
          </a:p>
        </p:txBody>
      </p:sp>
      <p:pic>
        <p:nvPicPr>
          <p:cNvPr id="154" name="Google Shape;154;g3f88639d4d7_0_84" title="v130_engineering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781000"/>
            <a:ext cx="8935826" cy="381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88639d4d7_0_274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60" name="Google Shape;160;g3f88639d4d7_0_274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sp>
        <p:nvSpPr>
          <p:cNvPr id="161" name="Google Shape;161;g3f88639d4d7_0_274"/>
          <p:cNvSpPr txBox="1"/>
          <p:nvPr>
            <p:ph type="title"/>
          </p:nvPr>
        </p:nvSpPr>
        <p:spPr>
          <a:xfrm>
            <a:off x="2667000" y="139225"/>
            <a:ext cx="6360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/>
              <a:t>The Tools</a:t>
            </a:r>
            <a:endParaRPr/>
          </a:p>
        </p:txBody>
      </p:sp>
      <p:pic>
        <p:nvPicPr>
          <p:cNvPr id="162" name="Google Shape;162;g3f88639d4d7_0_274" title="v160_networ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1400" y="623576"/>
            <a:ext cx="7301202" cy="4085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8a50f19dc_0_42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68" name="Google Shape;168;g3f8a50f19dc_0_42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sp>
        <p:nvSpPr>
          <p:cNvPr id="169" name="Google Shape;169;g3f8a50f19dc_0_42"/>
          <p:cNvSpPr txBox="1"/>
          <p:nvPr>
            <p:ph type="title"/>
          </p:nvPr>
        </p:nvSpPr>
        <p:spPr>
          <a:xfrm>
            <a:off x="2667000" y="139225"/>
            <a:ext cx="6360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/>
              <a:t>The Tools</a:t>
            </a:r>
            <a:endParaRPr/>
          </a:p>
        </p:txBody>
      </p:sp>
      <p:pic>
        <p:nvPicPr>
          <p:cNvPr id="170" name="Google Shape;170;g3f8a50f19dc_0_42" title="v170_ecosystem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763" y="697926"/>
            <a:ext cx="7985725" cy="4047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88639d4d7_0_121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76" name="Google Shape;176;g3f88639d4d7_0_121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sp>
        <p:nvSpPr>
          <p:cNvPr id="177" name="Google Shape;177;g3f88639d4d7_0_121"/>
          <p:cNvSpPr txBox="1"/>
          <p:nvPr>
            <p:ph type="title"/>
          </p:nvPr>
        </p:nvSpPr>
        <p:spPr>
          <a:xfrm>
            <a:off x="2667000" y="139225"/>
            <a:ext cx="6360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/>
              <a:t>The Tools</a:t>
            </a:r>
            <a:endParaRPr/>
          </a:p>
        </p:txBody>
      </p:sp>
      <p:pic>
        <p:nvPicPr>
          <p:cNvPr id="178" name="Google Shape;178;g3f88639d4d7_0_121" title="v140_dependencie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041000"/>
            <a:ext cx="8839204" cy="3560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88639d4d7_0_261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84" name="Google Shape;184;g3f88639d4d7_0_261"/>
          <p:cNvSpPr txBox="1"/>
          <p:nvPr>
            <p:ph type="title"/>
          </p:nvPr>
        </p:nvSpPr>
        <p:spPr>
          <a:xfrm>
            <a:off x="1645475" y="2211750"/>
            <a:ext cx="57042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 sz="2750"/>
              <a:t>Which Projects to Build on? </a:t>
            </a:r>
            <a:endParaRPr sz="2750"/>
          </a:p>
        </p:txBody>
      </p:sp>
      <p:sp>
        <p:nvSpPr>
          <p:cNvPr id="185" name="Google Shape;185;g3f88639d4d7_0_261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sp>
        <p:nvSpPr>
          <p:cNvPr id="186" name="Google Shape;186;g3f88639d4d7_0_261"/>
          <p:cNvSpPr txBox="1"/>
          <p:nvPr>
            <p:ph type="title"/>
          </p:nvPr>
        </p:nvSpPr>
        <p:spPr>
          <a:xfrm>
            <a:off x="1582425" y="3191900"/>
            <a:ext cx="57042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 sz="2750"/>
              <a:t>Disclaimer: I am biased</a:t>
            </a:r>
            <a:endParaRPr sz="27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88639d4d7_0_267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92" name="Google Shape;192;g3f88639d4d7_0_267"/>
          <p:cNvSpPr txBox="1"/>
          <p:nvPr>
            <p:ph type="title"/>
          </p:nvPr>
        </p:nvSpPr>
        <p:spPr>
          <a:xfrm>
            <a:off x="360000" y="1095550"/>
            <a:ext cx="57042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 sz="2400"/>
              <a:t>Infrastructure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0" lang="fr-FR" sz="2400"/>
              <a:t>I/O for DAS files</a:t>
            </a:r>
            <a:endParaRPr b="0"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0" lang="fr-FR" sz="2400"/>
              <a:t>Internal data structures</a:t>
            </a:r>
            <a:endParaRPr b="0"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0" lang="fr-FR" sz="2400"/>
              <a:t>Processing</a:t>
            </a:r>
            <a:endParaRPr b="0"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0" lang="fr-FR" sz="2400"/>
              <a:t>Visualizations</a:t>
            </a:r>
            <a:endParaRPr b="0"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0" lang="fr-FR" sz="2400"/>
              <a:t>More than 1 contributor</a:t>
            </a:r>
            <a:endParaRPr b="0"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0" lang="fr-FR" sz="2400"/>
              <a:t>at least 1 year old and active</a:t>
            </a:r>
            <a:endParaRPr b="0"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0" lang="fr-FR" sz="2400"/>
              <a:t>In code registry</a:t>
            </a:r>
            <a:endParaRPr b="0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t/>
            </a:r>
            <a:endParaRPr sz="2750"/>
          </a:p>
        </p:txBody>
      </p:sp>
      <p:sp>
        <p:nvSpPr>
          <p:cNvPr id="193" name="Google Shape;193;g3f88639d4d7_0_267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sp>
        <p:nvSpPr>
          <p:cNvPr id="194" name="Google Shape;194;g3f88639d4d7_0_267"/>
          <p:cNvSpPr txBox="1"/>
          <p:nvPr>
            <p:ph type="title"/>
          </p:nvPr>
        </p:nvSpPr>
        <p:spPr>
          <a:xfrm>
            <a:off x="2667000" y="139225"/>
            <a:ext cx="6360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/>
              <a:t>Infrastructure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88639d4d7_0_137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00" name="Google Shape;200;g3f88639d4d7_0_137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pic>
        <p:nvPicPr>
          <p:cNvPr id="201" name="Google Shape;201;g3f88639d4d7_0_1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525" y="859225"/>
            <a:ext cx="2388076" cy="2323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3f88639d4d7_0_137"/>
          <p:cNvSpPr txBox="1"/>
          <p:nvPr>
            <p:ph type="title"/>
          </p:nvPr>
        </p:nvSpPr>
        <p:spPr>
          <a:xfrm>
            <a:off x="2667000" y="139225"/>
            <a:ext cx="6360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/>
              <a:t>Infrastructure</a:t>
            </a:r>
            <a:endParaRPr/>
          </a:p>
        </p:txBody>
      </p:sp>
      <p:pic>
        <p:nvPicPr>
          <p:cNvPr id="203" name="Google Shape;203;g3f88639d4d7_0_1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04400" y="859225"/>
            <a:ext cx="3135201" cy="207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g3f88639d4d7_0_1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16300" y="2631909"/>
            <a:ext cx="3711401" cy="1899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g3f88639d4d7_0_1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3325" y="738775"/>
            <a:ext cx="2950675" cy="328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g3f88639d4d7_0_1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8800" y="3471449"/>
            <a:ext cx="1350000" cy="13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88639d4d7_0_294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12" name="Google Shape;212;g3f88639d4d7_0_294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pic>
        <p:nvPicPr>
          <p:cNvPr id="213" name="Google Shape;213;g3f88639d4d7_0_2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3300" y="1916737"/>
            <a:ext cx="1746498" cy="169929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3f88639d4d7_0_294"/>
          <p:cNvSpPr txBox="1"/>
          <p:nvPr>
            <p:ph type="title"/>
          </p:nvPr>
        </p:nvSpPr>
        <p:spPr>
          <a:xfrm>
            <a:off x="2667000" y="139225"/>
            <a:ext cx="6360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/>
              <a:t>Infrastructure</a:t>
            </a:r>
            <a:endParaRPr/>
          </a:p>
        </p:txBody>
      </p:sp>
      <p:pic>
        <p:nvPicPr>
          <p:cNvPr id="215" name="Google Shape;215;g3f88639d4d7_0_2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6541399" y="1008972"/>
            <a:ext cx="3135201" cy="207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g3f88639d4d7_0_29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2808462" y="2041299"/>
            <a:ext cx="2083374" cy="1066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g3f88639d4d7_0_29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8075" y="1303339"/>
            <a:ext cx="2078925" cy="2312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g3f88639d4d7_0_29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71100" y="270275"/>
            <a:ext cx="1158100" cy="1158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9" name="Google Shape;219;g3f88639d4d7_0_294"/>
          <p:cNvCxnSpPr/>
          <p:nvPr/>
        </p:nvCxnSpPr>
        <p:spPr>
          <a:xfrm>
            <a:off x="476250" y="4218225"/>
            <a:ext cx="827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0" name="Google Shape;220;g3f88639d4d7_0_294"/>
          <p:cNvCxnSpPr/>
          <p:nvPr/>
        </p:nvCxnSpPr>
        <p:spPr>
          <a:xfrm>
            <a:off x="1016025" y="4220325"/>
            <a:ext cx="7291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1" name="Google Shape;221;g3f88639d4d7_0_294"/>
          <p:cNvSpPr txBox="1"/>
          <p:nvPr/>
        </p:nvSpPr>
        <p:spPr>
          <a:xfrm>
            <a:off x="1904925" y="4218225"/>
            <a:ext cx="55140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Licence Permissivity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f88639d4d7_0_294"/>
          <p:cNvSpPr txBox="1"/>
          <p:nvPr/>
        </p:nvSpPr>
        <p:spPr>
          <a:xfrm>
            <a:off x="95250" y="3616025"/>
            <a:ext cx="26886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Non-Commercial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f88639d4d7_0_294"/>
          <p:cNvSpPr txBox="1"/>
          <p:nvPr/>
        </p:nvSpPr>
        <p:spPr>
          <a:xfrm>
            <a:off x="2505850" y="3694069"/>
            <a:ext cx="26886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GPL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f88639d4d7_0_294"/>
          <p:cNvSpPr txBox="1"/>
          <p:nvPr/>
        </p:nvSpPr>
        <p:spPr>
          <a:xfrm>
            <a:off x="4633375" y="3720294"/>
            <a:ext cx="26886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LGPL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f88639d4d7_0_294"/>
          <p:cNvSpPr txBox="1"/>
          <p:nvPr/>
        </p:nvSpPr>
        <p:spPr>
          <a:xfrm>
            <a:off x="6764700" y="3720294"/>
            <a:ext cx="26886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6" name="Google Shape;226;g3f88639d4d7_0_294"/>
          <p:cNvCxnSpPr/>
          <p:nvPr/>
        </p:nvCxnSpPr>
        <p:spPr>
          <a:xfrm>
            <a:off x="969150" y="4208975"/>
            <a:ext cx="7291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8a50f19dc_0_9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32" name="Google Shape;232;g3f8a50f19dc_0_9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sp>
        <p:nvSpPr>
          <p:cNvPr id="233" name="Google Shape;233;g3f8a50f19dc_0_9"/>
          <p:cNvSpPr txBox="1"/>
          <p:nvPr>
            <p:ph type="title"/>
          </p:nvPr>
        </p:nvSpPr>
        <p:spPr>
          <a:xfrm>
            <a:off x="2667000" y="139225"/>
            <a:ext cx="6360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/>
              <a:t>The Tools</a:t>
            </a:r>
            <a:endParaRPr/>
          </a:p>
        </p:txBody>
      </p:sp>
      <p:pic>
        <p:nvPicPr>
          <p:cNvPr id="234" name="Google Shape;234;g3f8a50f19dc_0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9475" y="1415401"/>
            <a:ext cx="2078925" cy="2312697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g3f8a50f19dc_0_9"/>
          <p:cNvSpPr txBox="1"/>
          <p:nvPr/>
        </p:nvSpPr>
        <p:spPr>
          <a:xfrm>
            <a:off x="665675" y="1238250"/>
            <a:ext cx="46248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fr-FR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DAS4Whales</a:t>
            </a:r>
            <a:endParaRPr b="1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0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Char char="-"/>
            </a:pPr>
            <a:r>
              <a:rPr b="0" i="0" lang="fr-FR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Curvelet-transform denoising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0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Char char="-"/>
            </a:pPr>
            <a:r>
              <a:rPr b="0" i="0" lang="fr-FR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Curvelet wavefield decomposition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0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Char char="-"/>
            </a:pPr>
            <a:r>
              <a:rPr b="0" i="0" lang="fr-FR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Curvelet-based strain-to-velocity conversion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88639d4d7_0_254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41" name="Google Shape;241;g3f88639d4d7_0_254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sp>
        <p:nvSpPr>
          <p:cNvPr id="242" name="Google Shape;242;g3f88639d4d7_0_254"/>
          <p:cNvSpPr txBox="1"/>
          <p:nvPr>
            <p:ph type="title"/>
          </p:nvPr>
        </p:nvSpPr>
        <p:spPr>
          <a:xfrm>
            <a:off x="2667000" y="139225"/>
            <a:ext cx="6360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/>
              <a:t>The Tools</a:t>
            </a:r>
            <a:endParaRPr/>
          </a:p>
        </p:txBody>
      </p:sp>
      <p:sp>
        <p:nvSpPr>
          <p:cNvPr id="243" name="Google Shape;243;g3f88639d4d7_0_254"/>
          <p:cNvSpPr txBox="1"/>
          <p:nvPr/>
        </p:nvSpPr>
        <p:spPr>
          <a:xfrm>
            <a:off x="665675" y="1238250"/>
            <a:ext cx="46248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fr-FR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DASpy</a:t>
            </a:r>
            <a:endParaRPr b="1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0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Char char="-"/>
            </a:pPr>
            <a:r>
              <a:rPr b="0" i="0" lang="fr-FR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Curvelet-transform denoising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0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Char char="-"/>
            </a:pPr>
            <a:r>
              <a:rPr b="0" i="0" lang="fr-FR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Curvelet wavefield decomposition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0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Char char="-"/>
            </a:pPr>
            <a:r>
              <a:rPr b="0" i="0" lang="fr-FR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Curvelet-based strain-to-velocity conversion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g3f88639d4d7_0_2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9949" y="1465722"/>
            <a:ext cx="3135201" cy="207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88639d4d7_0_230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50" name="Google Shape;250;g3f88639d4d7_0_230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sp>
        <p:nvSpPr>
          <p:cNvPr id="251" name="Google Shape;251;g3f88639d4d7_0_230"/>
          <p:cNvSpPr txBox="1"/>
          <p:nvPr>
            <p:ph type="title"/>
          </p:nvPr>
        </p:nvSpPr>
        <p:spPr>
          <a:xfrm>
            <a:off x="2667000" y="139225"/>
            <a:ext cx="6360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/>
              <a:t>The Gaps</a:t>
            </a:r>
            <a:endParaRPr/>
          </a:p>
        </p:txBody>
      </p:sp>
      <p:pic>
        <p:nvPicPr>
          <p:cNvPr id="252" name="Google Shape;252;g3f88639d4d7_0_2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0875" y="1666049"/>
            <a:ext cx="1746498" cy="169929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3f88639d4d7_0_230"/>
          <p:cNvSpPr txBox="1"/>
          <p:nvPr/>
        </p:nvSpPr>
        <p:spPr>
          <a:xfrm>
            <a:off x="665675" y="1238250"/>
            <a:ext cx="46248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fr-FR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DASCore</a:t>
            </a:r>
            <a:endParaRPr b="1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0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Char char="-"/>
            </a:pPr>
            <a:r>
              <a:rPr b="0" i="0" lang="fr-FR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Curvelet-transform denoising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0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Char char="-"/>
            </a:pPr>
            <a:r>
              <a:rPr b="0" i="0" lang="fr-FR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Curvelet wavefield decomposition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0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Char char="-"/>
            </a:pPr>
            <a:r>
              <a:rPr b="0" i="0" lang="fr-FR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Curvelet-based strain-to-velocity conversion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8a50f19dc_0_22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59" name="Google Shape;259;g3f8a50f19dc_0_22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sp>
        <p:nvSpPr>
          <p:cNvPr id="260" name="Google Shape;260;g3f8a50f19dc_0_22"/>
          <p:cNvSpPr txBox="1"/>
          <p:nvPr>
            <p:ph type="title"/>
          </p:nvPr>
        </p:nvSpPr>
        <p:spPr>
          <a:xfrm>
            <a:off x="2667000" y="139225"/>
            <a:ext cx="6360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/>
              <a:t>The Gaps</a:t>
            </a:r>
            <a:endParaRPr/>
          </a:p>
        </p:txBody>
      </p:sp>
      <p:pic>
        <p:nvPicPr>
          <p:cNvPr id="261" name="Google Shape;261;g3f8a50f19dc_0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6368" y="1673876"/>
            <a:ext cx="3286973" cy="1682001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g3f8a50f19dc_0_22"/>
          <p:cNvSpPr txBox="1"/>
          <p:nvPr/>
        </p:nvSpPr>
        <p:spPr>
          <a:xfrm>
            <a:off x="257950" y="929963"/>
            <a:ext cx="46248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fr-FR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Xdas</a:t>
            </a:r>
            <a:endParaRPr b="1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0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Char char="-"/>
            </a:pPr>
            <a:r>
              <a:rPr b="0" i="0" lang="fr-FR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Curvelet-transform denoising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0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Char char="-"/>
            </a:pPr>
            <a:r>
              <a:rPr b="0" i="0" lang="fr-FR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Curvelet wavefield decomposition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0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Char char="-"/>
            </a:pPr>
            <a:r>
              <a:rPr b="0" i="0" lang="fr-FR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Curvelet-based strain-to-velocity conversion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8a50f19dc_0_30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68" name="Google Shape;268;g3f8a50f19dc_0_30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sp>
        <p:nvSpPr>
          <p:cNvPr id="269" name="Google Shape;269;g3f8a50f19dc_0_30"/>
          <p:cNvSpPr txBox="1"/>
          <p:nvPr/>
        </p:nvSpPr>
        <p:spPr>
          <a:xfrm>
            <a:off x="243425" y="994850"/>
            <a:ext cx="8202000" cy="3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LightGuide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f8a50f19dc_0_30"/>
          <p:cNvSpPr txBox="1"/>
          <p:nvPr>
            <p:ph type="title"/>
          </p:nvPr>
        </p:nvSpPr>
        <p:spPr>
          <a:xfrm>
            <a:off x="2667000" y="139225"/>
            <a:ext cx="6360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/>
              <a:t>The Gaps</a:t>
            </a:r>
            <a:endParaRPr/>
          </a:p>
        </p:txBody>
      </p:sp>
      <p:pic>
        <p:nvPicPr>
          <p:cNvPr id="271" name="Google Shape;271;g3f8a50f19dc_0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5688" y="2136674"/>
            <a:ext cx="1291375" cy="129137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g3f8a50f19dc_0_30"/>
          <p:cNvSpPr txBox="1"/>
          <p:nvPr/>
        </p:nvSpPr>
        <p:spPr>
          <a:xfrm>
            <a:off x="5465725" y="1355725"/>
            <a:ext cx="3651300" cy="12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fr-FR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LightGuide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88639d4d7_0_70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78" name="Google Shape;278;g3f88639d4d7_0_70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sp>
        <p:nvSpPr>
          <p:cNvPr id="279" name="Google Shape;279;g3f88639d4d7_0_70"/>
          <p:cNvSpPr txBox="1"/>
          <p:nvPr>
            <p:ph type="title"/>
          </p:nvPr>
        </p:nvSpPr>
        <p:spPr>
          <a:xfrm>
            <a:off x="2667000" y="139225"/>
            <a:ext cx="6360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/>
              <a:t>The Gaps</a:t>
            </a:r>
            <a:endParaRPr/>
          </a:p>
        </p:txBody>
      </p:sp>
      <p:pic>
        <p:nvPicPr>
          <p:cNvPr id="280" name="Google Shape;280;g3f88639d4d7_0_70" title="v180_archive_abstraction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7613" y="941175"/>
            <a:ext cx="8468777" cy="361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88639d4d7_0_244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86" name="Google Shape;286;g3f88639d4d7_0_244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sp>
        <p:nvSpPr>
          <p:cNvPr id="287" name="Google Shape;287;g3f88639d4d7_0_244"/>
          <p:cNvSpPr txBox="1"/>
          <p:nvPr/>
        </p:nvSpPr>
        <p:spPr>
          <a:xfrm>
            <a:off x="243425" y="994850"/>
            <a:ext cx="8202000" cy="3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popularity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f88639d4d7_0_244"/>
          <p:cNvSpPr txBox="1"/>
          <p:nvPr>
            <p:ph type="title"/>
          </p:nvPr>
        </p:nvSpPr>
        <p:spPr>
          <a:xfrm>
            <a:off x="2667000" y="139225"/>
            <a:ext cx="6360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/>
              <a:t>The Gaps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88639d4d7_0_224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94" name="Google Shape;294;g3f88639d4d7_0_224"/>
          <p:cNvSpPr txBox="1"/>
          <p:nvPr>
            <p:ph type="title"/>
          </p:nvPr>
        </p:nvSpPr>
        <p:spPr>
          <a:xfrm>
            <a:off x="1645475" y="2211750"/>
            <a:ext cx="57042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 sz="2750"/>
              <a:t>What Are the Gaps and Opportunities? </a:t>
            </a:r>
            <a:endParaRPr sz="2750"/>
          </a:p>
        </p:txBody>
      </p:sp>
      <p:sp>
        <p:nvSpPr>
          <p:cNvPr id="295" name="Google Shape;295;g3f88639d4d7_0_224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88639d4d7_0_237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01" name="Google Shape;301;g3f88639d4d7_0_237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sp>
        <p:nvSpPr>
          <p:cNvPr id="302" name="Google Shape;302;g3f88639d4d7_0_237"/>
          <p:cNvSpPr txBox="1"/>
          <p:nvPr/>
        </p:nvSpPr>
        <p:spPr>
          <a:xfrm>
            <a:off x="243425" y="994850"/>
            <a:ext cx="4341900" cy="3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Interoperability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5+ tribes forming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Overlap can lead to innovation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Segmentation hurts users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b="1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 for interoperability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f88639d4d7_0_237"/>
          <p:cNvSpPr txBox="1"/>
          <p:nvPr>
            <p:ph type="title"/>
          </p:nvPr>
        </p:nvSpPr>
        <p:spPr>
          <a:xfrm>
            <a:off x="2667000" y="139225"/>
            <a:ext cx="6360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/>
              <a:t>The Gaps</a:t>
            </a:r>
            <a:endParaRPr/>
          </a:p>
        </p:txBody>
      </p:sp>
      <p:pic>
        <p:nvPicPr>
          <p:cNvPr id="304" name="Google Shape;304;g3f88639d4d7_0_2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1600" y="1655013"/>
            <a:ext cx="4341774" cy="1995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f8a36c4579_498_40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10" name="Google Shape;310;g3f8a36c4579_498_40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sp>
        <p:nvSpPr>
          <p:cNvPr id="311" name="Google Shape;311;g3f8a36c4579_498_40"/>
          <p:cNvSpPr txBox="1"/>
          <p:nvPr/>
        </p:nvSpPr>
        <p:spPr>
          <a:xfrm>
            <a:off x="243425" y="994850"/>
            <a:ext cx="4461300" cy="3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GPU accelerated processing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Moving beyond numpy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 API support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Seperate Kernel (data) from metadata; two tracked operations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Tensor compilation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 projects to watch: Coordax, xarray_jax, wax-ml, einx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f8a36c4579_498_40"/>
          <p:cNvSpPr txBox="1"/>
          <p:nvPr>
            <p:ph type="title"/>
          </p:nvPr>
        </p:nvSpPr>
        <p:spPr>
          <a:xfrm>
            <a:off x="2667000" y="139225"/>
            <a:ext cx="6360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/>
              <a:t>The Gaps</a:t>
            </a:r>
            <a:endParaRPr/>
          </a:p>
        </p:txBody>
      </p:sp>
      <p:pic>
        <p:nvPicPr>
          <p:cNvPr id="313" name="Google Shape;313;g3f8a36c4579_498_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5725" y="1084750"/>
            <a:ext cx="4461300" cy="3058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f88639d4d7_0_98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19" name="Google Shape;319;g3f88639d4d7_0_98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sp>
        <p:nvSpPr>
          <p:cNvPr id="320" name="Google Shape;320;g3f88639d4d7_0_98"/>
          <p:cNvSpPr txBox="1"/>
          <p:nvPr/>
        </p:nvSpPr>
        <p:spPr>
          <a:xfrm>
            <a:off x="243425" y="994850"/>
            <a:ext cx="3709500" cy="3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Robust Metadata management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Integrated inventory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Comprehensive, reusable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 API support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Speed ups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f88639d4d7_0_98"/>
          <p:cNvSpPr txBox="1"/>
          <p:nvPr>
            <p:ph type="title"/>
          </p:nvPr>
        </p:nvSpPr>
        <p:spPr>
          <a:xfrm>
            <a:off x="2667000" y="139225"/>
            <a:ext cx="6360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/>
              <a:t>The Gaps</a:t>
            </a:r>
            <a:endParaRPr/>
          </a:p>
        </p:txBody>
      </p:sp>
      <p:pic>
        <p:nvPicPr>
          <p:cNvPr id="322" name="Google Shape;322;g3f88639d4d7_0_98" title="inventory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61550" y="654282"/>
            <a:ext cx="5882449" cy="39528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8a50f19dc_0_2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28" name="Google Shape;328;g3f8a50f19dc_0_2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sp>
        <p:nvSpPr>
          <p:cNvPr id="329" name="Google Shape;329;g3f8a50f19dc_0_2"/>
          <p:cNvSpPr txBox="1"/>
          <p:nvPr/>
        </p:nvSpPr>
        <p:spPr>
          <a:xfrm>
            <a:off x="243425" y="994850"/>
            <a:ext cx="8202000" cy="3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Large-scale Visualizations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Integrated inventory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Comprehensive, reusable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 API support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Speed ups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f8a50f19dc_0_2"/>
          <p:cNvSpPr txBox="1"/>
          <p:nvPr>
            <p:ph type="title"/>
          </p:nvPr>
        </p:nvSpPr>
        <p:spPr>
          <a:xfrm>
            <a:off x="2667000" y="139225"/>
            <a:ext cx="6360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/>
              <a:t>The Gaps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88639d4d7_0_112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36" name="Google Shape;336;g3f88639d4d7_0_112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sp>
        <p:nvSpPr>
          <p:cNvPr id="337" name="Google Shape;337;g3f88639d4d7_0_112"/>
          <p:cNvSpPr txBox="1"/>
          <p:nvPr/>
        </p:nvSpPr>
        <p:spPr>
          <a:xfrm>
            <a:off x="243425" y="994850"/>
            <a:ext cx="8202000" cy="3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Scale visualizations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g3f88639d4d7_0_112"/>
          <p:cNvSpPr txBox="1"/>
          <p:nvPr>
            <p:ph type="title"/>
          </p:nvPr>
        </p:nvSpPr>
        <p:spPr>
          <a:xfrm>
            <a:off x="2667000" y="139225"/>
            <a:ext cx="6360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/>
              <a:t>The Gaps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f88639d4d7_0_151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44" name="Google Shape;344;g3f88639d4d7_0_151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sp>
        <p:nvSpPr>
          <p:cNvPr id="345" name="Google Shape;345;g3f88639d4d7_0_151"/>
          <p:cNvSpPr txBox="1"/>
          <p:nvPr>
            <p:ph type="title"/>
          </p:nvPr>
        </p:nvSpPr>
        <p:spPr>
          <a:xfrm>
            <a:off x="2667000" y="139225"/>
            <a:ext cx="6360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/>
              <a:t>The Gaps</a:t>
            </a:r>
            <a:endParaRPr/>
          </a:p>
        </p:txBody>
      </p:sp>
      <p:pic>
        <p:nvPicPr>
          <p:cNvPr id="346" name="Google Shape;346;g3f88639d4d7_0_151" title="p1_scientist_os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41625"/>
            <a:ext cx="8839204" cy="35520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7" name="Google Shape;347;g3f88639d4d7_0_151"/>
          <p:cNvCxnSpPr/>
          <p:nvPr/>
        </p:nvCxnSpPr>
        <p:spPr>
          <a:xfrm>
            <a:off x="4367075" y="1355725"/>
            <a:ext cx="0" cy="1291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8" name="Google Shape;348;g3f88639d4d7_0_151"/>
          <p:cNvSpPr txBox="1"/>
          <p:nvPr/>
        </p:nvSpPr>
        <p:spPr>
          <a:xfrm>
            <a:off x="2470175" y="389500"/>
            <a:ext cx="3793800" cy="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Arial"/>
              <a:buNone/>
            </a:pPr>
            <a:r>
              <a:rPr b="0" i="0" lang="fr-FR" sz="2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Opportunity: </a:t>
            </a:r>
            <a:endParaRPr b="0" i="0" sz="2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Arial"/>
              <a:buNone/>
            </a:pPr>
            <a:r>
              <a:rPr b="0" i="0" lang="fr-FR" sz="2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Become Agent Friendly</a:t>
            </a:r>
            <a:endParaRPr b="0" i="0" sz="2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f88639d4d7_0_198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54" name="Google Shape;354;g3f88639d4d7_0_198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sp>
        <p:nvSpPr>
          <p:cNvPr id="355" name="Google Shape;355;g3f88639d4d7_0_198"/>
          <p:cNvSpPr txBox="1"/>
          <p:nvPr>
            <p:ph type="title"/>
          </p:nvPr>
        </p:nvSpPr>
        <p:spPr>
          <a:xfrm>
            <a:off x="2667000" y="139225"/>
            <a:ext cx="6360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/>
              <a:t>The Gaps</a:t>
            </a:r>
            <a:endParaRPr/>
          </a:p>
        </p:txBody>
      </p:sp>
      <p:pic>
        <p:nvPicPr>
          <p:cNvPr id="356" name="Google Shape;356;g3f88639d4d7_0_198" title="p1_scientist_agent_os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3225" y="762013"/>
            <a:ext cx="5625009" cy="3619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7" name="Google Shape;357;g3f88639d4d7_0_198"/>
          <p:cNvCxnSpPr/>
          <p:nvPr/>
        </p:nvCxnSpPr>
        <p:spPr>
          <a:xfrm flipH="1">
            <a:off x="4570650" y="1210725"/>
            <a:ext cx="2700" cy="851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8" name="Google Shape;358;g3f88639d4d7_0_198"/>
          <p:cNvSpPr txBox="1"/>
          <p:nvPr/>
        </p:nvSpPr>
        <p:spPr>
          <a:xfrm>
            <a:off x="2616450" y="25"/>
            <a:ext cx="3793800" cy="9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Arial"/>
              <a:buNone/>
            </a:pPr>
            <a:r>
              <a:rPr b="0" i="0" lang="fr-FR" sz="2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Opportunity: </a:t>
            </a:r>
            <a:endParaRPr b="0" i="0" sz="2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Arial"/>
              <a:buNone/>
            </a:pPr>
            <a:r>
              <a:rPr b="0" i="0" lang="fr-FR" sz="2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Agent-Human Collaboration</a:t>
            </a:r>
            <a:endParaRPr b="0" i="0" sz="2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f88639d4d7_0_105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64" name="Google Shape;364;g3f88639d4d7_0_105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sp>
        <p:nvSpPr>
          <p:cNvPr id="365" name="Google Shape;365;g3f88639d4d7_0_105"/>
          <p:cNvSpPr txBox="1"/>
          <p:nvPr/>
        </p:nvSpPr>
        <p:spPr>
          <a:xfrm>
            <a:off x="243425" y="994850"/>
            <a:ext cx="4575000" cy="3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does Agent/Collaborative software look like?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g3f88639d4d7_0_105"/>
          <p:cNvSpPr txBox="1"/>
          <p:nvPr>
            <p:ph type="title"/>
          </p:nvPr>
        </p:nvSpPr>
        <p:spPr>
          <a:xfrm>
            <a:off x="2667000" y="139225"/>
            <a:ext cx="6360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/>
              <a:t>The Gaps</a:t>
            </a:r>
            <a:endParaRPr/>
          </a:p>
        </p:txBody>
      </p:sp>
      <p:pic>
        <p:nvPicPr>
          <p:cNvPr id="367" name="Google Shape;367;g3f88639d4d7_0_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7425" y="723113"/>
            <a:ext cx="3668277" cy="3697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f8a50f19dc_0_84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73" name="Google Shape;373;g3f8a50f19dc_0_84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sp>
        <p:nvSpPr>
          <p:cNvPr id="374" name="Google Shape;374;g3f8a50f19dc_0_84"/>
          <p:cNvSpPr txBox="1"/>
          <p:nvPr/>
        </p:nvSpPr>
        <p:spPr>
          <a:xfrm>
            <a:off x="243425" y="994850"/>
            <a:ext cx="8202000" cy="3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Conclusions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fr-FR" sz="1800">
                <a:solidFill>
                  <a:schemeClr val="dk1"/>
                </a:solidFill>
              </a:rPr>
              <a:t>The DAS OSS ecosystem is still young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fr-FR" sz="1800">
                <a:solidFill>
                  <a:schemeClr val="dk1"/>
                </a:solidFill>
              </a:rPr>
              <a:t>Projects are largely disconnected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fr-FR" sz="1800">
                <a:solidFill>
                  <a:schemeClr val="dk1"/>
                </a:solidFill>
              </a:rPr>
              <a:t>A few sub-ecosystems are forming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fr-FR" sz="1800">
                <a:solidFill>
                  <a:schemeClr val="dk1"/>
                </a:solidFill>
              </a:rPr>
              <a:t>Fragmentation remains a concert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fr-FR" sz="1800">
                <a:solidFill>
                  <a:schemeClr val="dk1"/>
                </a:solidFill>
              </a:rPr>
              <a:t>Five “infrastructure” level packages exits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fr-FR" sz="1800">
                <a:solidFill>
                  <a:schemeClr val="dk1"/>
                </a:solidFill>
              </a:rPr>
              <a:t>Each with its own unique feature set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fr-FR" sz="1800">
                <a:solidFill>
                  <a:schemeClr val="dk1"/>
                </a:solidFill>
              </a:rPr>
              <a:t>Existing opportunities for: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fr-FR" sz="1800">
                <a:solidFill>
                  <a:schemeClr val="dk1"/>
                </a:solidFill>
              </a:rPr>
              <a:t>GPU computing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fr-FR" sz="1800">
                <a:solidFill>
                  <a:schemeClr val="dk1"/>
                </a:solidFill>
              </a:rPr>
              <a:t>Meta data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fr-FR" sz="1800">
                <a:solidFill>
                  <a:schemeClr val="dk1"/>
                </a:solidFill>
              </a:rPr>
              <a:t>Large-scale visualization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fr-FR" sz="1800">
                <a:solidFill>
                  <a:schemeClr val="dk1"/>
                </a:solidFill>
              </a:rPr>
              <a:t>Agent integrations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f8a50f19dc_0_53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80" name="Google Shape;380;g3f8a50f19dc_0_53"/>
          <p:cNvSpPr txBox="1"/>
          <p:nvPr>
            <p:ph type="title"/>
          </p:nvPr>
        </p:nvSpPr>
        <p:spPr>
          <a:xfrm>
            <a:off x="359999" y="900000"/>
            <a:ext cx="8424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b="0" lang="fr-FR"/>
              <a:t>Thank you!</a:t>
            </a:r>
            <a:endParaRPr b="0"/>
          </a:p>
        </p:txBody>
      </p:sp>
      <p:sp>
        <p:nvSpPr>
          <p:cNvPr id="381" name="Google Shape;381;g3f8a50f19dc_0_53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pic>
        <p:nvPicPr>
          <p:cNvPr id="382" name="Google Shape;382;g3f8a50f19dc_0_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075" y="1487150"/>
            <a:ext cx="2858700" cy="28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g3f8a50f19dc_0_53"/>
          <p:cNvSpPr txBox="1"/>
          <p:nvPr/>
        </p:nvSpPr>
        <p:spPr>
          <a:xfrm>
            <a:off x="4387825" y="1486975"/>
            <a:ext cx="4217100" cy="29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fr-FR" sz="105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Derrick.chambers@ineris.fr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fr-FR" sz="105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d-chambers@github.com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fr-FR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7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89" name="Google Shape;389;p7"/>
          <p:cNvSpPr txBox="1"/>
          <p:nvPr>
            <p:ph type="title"/>
          </p:nvPr>
        </p:nvSpPr>
        <p:spPr>
          <a:xfrm>
            <a:off x="359999" y="900000"/>
            <a:ext cx="8424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b="0" lang="fr-FR"/>
              <a:t>Thank you!</a:t>
            </a:r>
            <a:endParaRPr b="0"/>
          </a:p>
        </p:txBody>
      </p:sp>
      <p:sp>
        <p:nvSpPr>
          <p:cNvPr id="390" name="Google Shape;390;p7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pic>
        <p:nvPicPr>
          <p:cNvPr id="391" name="Google Shape;39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075" y="1487150"/>
            <a:ext cx="2858700" cy="285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075" y="1687886"/>
            <a:ext cx="2730701" cy="2457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13775" y="423975"/>
            <a:ext cx="266700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43075" y="1224463"/>
            <a:ext cx="2400923" cy="2336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69463" y="2074550"/>
            <a:ext cx="1949475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f8a50f19dc_0_73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401" name="Google Shape;401;g3f8a50f19dc_0_73"/>
          <p:cNvSpPr txBox="1"/>
          <p:nvPr>
            <p:ph type="title"/>
          </p:nvPr>
        </p:nvSpPr>
        <p:spPr>
          <a:xfrm>
            <a:off x="359999" y="900000"/>
            <a:ext cx="8424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b="0" lang="fr-FR"/>
              <a:t>Thank you!</a:t>
            </a:r>
            <a:endParaRPr b="0"/>
          </a:p>
        </p:txBody>
      </p:sp>
      <p:sp>
        <p:nvSpPr>
          <p:cNvPr id="402" name="Google Shape;402;g3f8a50f19dc_0_73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pic>
        <p:nvPicPr>
          <p:cNvPr id="403" name="Google Shape;403;g3f8a50f19dc_0_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075" y="1487150"/>
            <a:ext cx="2858700" cy="285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g3f8a50f19dc_0_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075" y="1687886"/>
            <a:ext cx="2730701" cy="2457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g3f8a50f19dc_0_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13775" y="423975"/>
            <a:ext cx="266700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g3f8a50f19dc_0_7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43075" y="1224463"/>
            <a:ext cx="2400923" cy="2336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g3f8a50f19dc_0_7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69463" y="2074550"/>
            <a:ext cx="1949475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f88639d4d7_0_77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413" name="Google Shape;413;g3f88639d4d7_0_77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sp>
        <p:nvSpPr>
          <p:cNvPr id="414" name="Google Shape;414;g3f88639d4d7_0_77"/>
          <p:cNvSpPr txBox="1"/>
          <p:nvPr>
            <p:ph type="title"/>
          </p:nvPr>
        </p:nvSpPr>
        <p:spPr>
          <a:xfrm>
            <a:off x="2667000" y="139225"/>
            <a:ext cx="6360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/>
              <a:t>Call to Action</a:t>
            </a:r>
            <a:endParaRPr/>
          </a:p>
        </p:txBody>
      </p:sp>
      <p:sp>
        <p:nvSpPr>
          <p:cNvPr id="415" name="Google Shape;415;g3f88639d4d7_0_77"/>
          <p:cNvSpPr txBox="1"/>
          <p:nvPr/>
        </p:nvSpPr>
        <p:spPr>
          <a:xfrm>
            <a:off x="1179600" y="1682000"/>
            <a:ext cx="67848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- 21 are installable — on PyPI, conda or Julia. This is the "Packaged" bar on the engineering slide and "On PyPI" on the composition slide.                                                                  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- 51 are set up as a package — a root pyproject.toml or setup.py — but 30 of those never published.                                                                                                          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- 60 declare their dependencies somewhere, which is the bar the ecosystem comparison uses, because it's the only bar you can apply identically to 677 seismology repos read over an API.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f8a36c4579_498_0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421" name="Google Shape;421;g3f8a36c4579_498_0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pic>
        <p:nvPicPr>
          <p:cNvPr id="422" name="Google Shape;422;g3f8a36c4579_498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3300" y="1916737"/>
            <a:ext cx="1746498" cy="1699299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g3f8a36c4579_498_0"/>
          <p:cNvSpPr txBox="1"/>
          <p:nvPr>
            <p:ph type="title"/>
          </p:nvPr>
        </p:nvSpPr>
        <p:spPr>
          <a:xfrm>
            <a:off x="2667000" y="139225"/>
            <a:ext cx="6360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/>
              <a:t>Infrastructure</a:t>
            </a:r>
            <a:endParaRPr/>
          </a:p>
        </p:txBody>
      </p:sp>
      <p:pic>
        <p:nvPicPr>
          <p:cNvPr id="424" name="Google Shape;424;g3f8a36c4579_498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6541399" y="1008972"/>
            <a:ext cx="3135201" cy="207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g3f8a36c4579_498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2808462" y="2041299"/>
            <a:ext cx="2083374" cy="1066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g3f8a36c4579_498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8075" y="1303339"/>
            <a:ext cx="2078925" cy="2312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g3f8a36c4579_498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71100" y="270275"/>
            <a:ext cx="1158100" cy="1158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8" name="Google Shape;428;g3f8a36c4579_498_0"/>
          <p:cNvCxnSpPr/>
          <p:nvPr/>
        </p:nvCxnSpPr>
        <p:spPr>
          <a:xfrm>
            <a:off x="476250" y="4218225"/>
            <a:ext cx="827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9" name="Google Shape;429;g3f8a36c4579_498_0"/>
          <p:cNvCxnSpPr/>
          <p:nvPr/>
        </p:nvCxnSpPr>
        <p:spPr>
          <a:xfrm>
            <a:off x="1016025" y="4220325"/>
            <a:ext cx="7291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0" name="Google Shape;430;g3f8a36c4579_498_0"/>
          <p:cNvSpPr txBox="1"/>
          <p:nvPr/>
        </p:nvSpPr>
        <p:spPr>
          <a:xfrm>
            <a:off x="1904925" y="4218225"/>
            <a:ext cx="55140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Popularity (Downloads/Stars)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g3f8a36c4579_498_0"/>
          <p:cNvSpPr txBox="1"/>
          <p:nvPr/>
        </p:nvSpPr>
        <p:spPr>
          <a:xfrm>
            <a:off x="95250" y="3616025"/>
            <a:ext cx="26886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Non-Commercial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g3f8a36c4579_498_0"/>
          <p:cNvSpPr txBox="1"/>
          <p:nvPr/>
        </p:nvSpPr>
        <p:spPr>
          <a:xfrm>
            <a:off x="2505850" y="3694069"/>
            <a:ext cx="26886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GPL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g3f8a36c4579_498_0"/>
          <p:cNvSpPr txBox="1"/>
          <p:nvPr/>
        </p:nvSpPr>
        <p:spPr>
          <a:xfrm>
            <a:off x="4633375" y="3720294"/>
            <a:ext cx="26886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LGPL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f8a36c4579_498_0"/>
          <p:cNvSpPr txBox="1"/>
          <p:nvPr/>
        </p:nvSpPr>
        <p:spPr>
          <a:xfrm>
            <a:off x="6764700" y="3720294"/>
            <a:ext cx="26886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f8a36c4579_498_18"/>
          <p:cNvSpPr txBox="1"/>
          <p:nvPr>
            <p:ph idx="12" type="sldNum"/>
          </p:nvPr>
        </p:nvSpPr>
        <p:spPr>
          <a:xfrm>
            <a:off x="7433998" y="4783500"/>
            <a:ext cx="13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440" name="Google Shape;440;g3f8a36c4579_498_18"/>
          <p:cNvSpPr txBox="1"/>
          <p:nvPr>
            <p:ph idx="11" type="ftr"/>
          </p:nvPr>
        </p:nvSpPr>
        <p:spPr>
          <a:xfrm>
            <a:off x="360000" y="4783500"/>
            <a:ext cx="590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French National Institute for Industrial Environment and Risks (Ineris)</a:t>
            </a:r>
            <a:endParaRPr/>
          </a:p>
        </p:txBody>
      </p:sp>
      <p:pic>
        <p:nvPicPr>
          <p:cNvPr id="441" name="Google Shape;441;g3f8a36c4579_498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4900" y="1495399"/>
            <a:ext cx="1746498" cy="1699299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g3f8a36c4579_498_18"/>
          <p:cNvSpPr txBox="1"/>
          <p:nvPr>
            <p:ph type="title"/>
          </p:nvPr>
        </p:nvSpPr>
        <p:spPr>
          <a:xfrm>
            <a:off x="2667000" y="139225"/>
            <a:ext cx="63603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fr-FR"/>
              <a:t>Infrastructure</a:t>
            </a:r>
            <a:endParaRPr/>
          </a:p>
        </p:txBody>
      </p:sp>
      <p:pic>
        <p:nvPicPr>
          <p:cNvPr id="443" name="Google Shape;443;g3f8a36c4579_498_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4012299" y="1045897"/>
            <a:ext cx="3135201" cy="207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g3f8a36c4579_498_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-315888" y="1746999"/>
            <a:ext cx="2083374" cy="1066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g3f8a36c4579_498_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04575" y="929001"/>
            <a:ext cx="2078925" cy="2312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g3f8a36c4579_498_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92100" y="1700987"/>
            <a:ext cx="1158100" cy="1158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7" name="Google Shape;447;g3f8a36c4579_498_18"/>
          <p:cNvCxnSpPr/>
          <p:nvPr/>
        </p:nvCxnSpPr>
        <p:spPr>
          <a:xfrm>
            <a:off x="476250" y="4218225"/>
            <a:ext cx="827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8" name="Google Shape;448;g3f8a36c4579_498_18"/>
          <p:cNvCxnSpPr/>
          <p:nvPr/>
        </p:nvCxnSpPr>
        <p:spPr>
          <a:xfrm>
            <a:off x="1016025" y="4220325"/>
            <a:ext cx="7291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9" name="Google Shape;449;g3f8a36c4579_498_18"/>
          <p:cNvSpPr txBox="1"/>
          <p:nvPr/>
        </p:nvSpPr>
        <p:spPr>
          <a:xfrm>
            <a:off x="192750" y="3429125"/>
            <a:ext cx="34557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XArray-Inspired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labeled-multidimension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g3f8a36c4579_498_18"/>
          <p:cNvSpPr txBox="1"/>
          <p:nvPr/>
        </p:nvSpPr>
        <p:spPr>
          <a:xfrm>
            <a:off x="6699725" y="3380369"/>
            <a:ext cx="26886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Arrays/dicts of metadata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g3f8a36c4579_498_18"/>
          <p:cNvSpPr txBox="1"/>
          <p:nvPr/>
        </p:nvSpPr>
        <p:spPr>
          <a:xfrm>
            <a:off x="3392250" y="3380375"/>
            <a:ext cx="34557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Unified object, fixed dimensional semantics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g3f8a36c4579_498_18"/>
          <p:cNvSpPr txBox="1"/>
          <p:nvPr/>
        </p:nvSpPr>
        <p:spPr>
          <a:xfrm>
            <a:off x="136400" y="4276763"/>
            <a:ext cx="34557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flexible/General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complex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g3f8a36c4579_498_18"/>
          <p:cNvSpPr txBox="1"/>
          <p:nvPr/>
        </p:nvSpPr>
        <p:spPr>
          <a:xfrm>
            <a:off x="5688300" y="4335288"/>
            <a:ext cx="34557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Simpler, Less flexible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NISTÈRIEL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2021-02-18T09:11:45Z</dcterms:created>
  <dc:creator>BERTHE Blandine</dc:creator>
</cp:coreProperties>
</file>